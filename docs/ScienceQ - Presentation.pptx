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ef9acae2e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cef9acae2e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 everyone — I</a:t>
            </a:r>
            <a:r>
              <a:rPr lang="en" sz="1200">
                <a:solidFill>
                  <a:schemeClr val="dk1"/>
                </a:solidFill>
              </a:rPr>
              <a:t>’m proud to present you my project -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ScienceQ. It's a chatbot that lets you ask natural language questions about YouTube science videos, powered by RAG. I'll walk you through the motivation, how I built it, a quick demo, and what</a:t>
            </a:r>
            <a:r>
              <a:rPr lang="en" sz="1200">
                <a:solidFill>
                  <a:schemeClr val="dk1"/>
                </a:solidFill>
              </a:rPr>
              <a:t> I would do next.</a:t>
            </a:r>
            <a:endParaRPr/>
          </a:p>
        </p:txBody>
      </p:sp>
      <p:sp>
        <p:nvSpPr>
          <p:cNvPr id="55" name="Google Shape;55;g3cef9acae2e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ef9acae2e_2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g3cef9acae2e_2_2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problem: </a:t>
            </a:r>
            <a:r>
              <a:rPr lang="en" sz="1200">
                <a:solidFill>
                  <a:schemeClr val="dk1"/>
                </a:solidFill>
              </a:rPr>
              <a:t>S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cience channels YouTube </a:t>
            </a:r>
            <a:r>
              <a:rPr lang="en" sz="1200">
                <a:solidFill>
                  <a:schemeClr val="dk1"/>
                </a:solidFill>
              </a:rPr>
              <a:t>are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brilliant but unsearchable. You can't semantically query it, you can't do follow-up questions across videos, and you lose context the moment the video ends.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ScienceQ flips that — it indexes transcript content into a vector DB so you can query it like a knowledgeable </a:t>
            </a:r>
            <a:r>
              <a:rPr lang="en" sz="1200">
                <a:solidFill>
                  <a:schemeClr val="dk1"/>
                </a:solidFill>
              </a:rPr>
              <a:t>assistant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6" name="Google Shape;76;g3cef9acae2e_2_2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f9acae2e_2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g3cef9acae2e_2_4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My dataset consists of 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 videos, 674 chun</a:t>
            </a:r>
            <a:r>
              <a:rPr lang="en" sz="1200">
                <a:solidFill>
                  <a:schemeClr val="dk1"/>
                </a:solidFill>
              </a:rPr>
              <a:t>k 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vectors, 10 topics — that</a:t>
            </a:r>
            <a:r>
              <a:rPr lang="en" sz="1200">
                <a:solidFill>
                  <a:schemeClr val="dk1"/>
                </a:solidFill>
              </a:rPr>
              <a:t>’s 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11 hours of cont</a:t>
            </a:r>
            <a:r>
              <a:rPr lang="en" sz="1200">
                <a:solidFill>
                  <a:schemeClr val="dk1"/>
                </a:solidFill>
              </a:rPr>
              <a:t>ent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 sitting in Pinecone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 to query.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The curation criteria was simple: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</a:t>
            </a:r>
            <a:r>
              <a:rPr b="1" i="0" lang="en" sz="1200">
                <a:solidFill>
                  <a:schemeClr val="dk1"/>
                </a:solidFill>
              </a:rPr>
              <a:t>ne concept per video</a:t>
            </a:r>
            <a:r>
              <a:rPr b="1" lang="en" sz="1200">
                <a:solidFill>
                  <a:schemeClr val="dk1"/>
                </a:solidFill>
              </a:rPr>
              <a:t>.</a:t>
            </a:r>
            <a:r>
              <a:rPr lang="en" sz="1200">
                <a:solidFill>
                  <a:schemeClr val="dk1"/>
                </a:solidFill>
              </a:rPr>
              <a:t> This ensures the</a:t>
            </a:r>
            <a:r>
              <a:rPr i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retrieval is kept unambiguous.</a:t>
            </a:r>
            <a:endParaRPr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Channel selection was deliberate — science channels usually contain scripted content with clean transcripts.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Human captions were preferred over auto-generated</a:t>
            </a:r>
            <a:r>
              <a:rPr lang="en" sz="1200">
                <a:solidFill>
                  <a:schemeClr val="dk1"/>
                </a:solidFill>
              </a:rPr>
              <a:t> — this leads to better accuracy and cleaner chunk boundaries.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Videos that rely on visuals, opinion pieces or list videos were deliberately excluded.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topic distribution I preferred having a wide range of topics — three videos per topic was the minimum to give the retriever something to triangulate across within a topic, while keeping the corpus manageable.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9" name="Google Shape;99;g3cef9acae2e_2_4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ef9acae2e_2_1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cef9acae2e_2_11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app consists of t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 pipelines: ingestion and query.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Offline ingestion builds the index, online query answers questions against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decisions: 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 deterministic intent routing was preferred for reliability over flexibility.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Preprending the titles on the embeddings allowed to insert topical context into the vector at index time.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Post-retrieval filter adjusted to 0.28. Results below this value trigger a “I don’t know” reply to prevent hallucinations.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Two Groq models were used - small model for rewrites, bigger model for answers</a:t>
            </a:r>
            <a:r>
              <a:rPr lang="en" sz="1200">
                <a:solidFill>
                  <a:schemeClr val="dk1"/>
                </a:solidFill>
              </a:rPr>
              <a:t>. This kept the token usage efficient.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 also used ChatGPT as a judge for the evaluation set.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4" name="Google Shape;174;g3cef9acae2e_2_11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ef9acae2e_2_1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cef9acae2e_2_15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agent is a LangGraph state machine — user input hits classify_intent first, which routes purely on keywords into three buckets: RAG for factual questions, metadata for catalog queries, ingest when someone pastes a URL. No LLM in the routing step, so zero cost and zero errors there.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Each intent node assembles the answer, passes through a respond node as a clean exit point, and comes back with sources attached.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Memory is a sliding window — last 5 turns injected directly into the prompt via MessagesPlaceholder. Simple, no database.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The prompt has three layers: system rules, history, current question. The rules do the heavy lifting — stay grounded, no hedging openers, max 4 paragraphs.</a:t>
            </a:r>
            <a:endParaRPr/>
          </a:p>
        </p:txBody>
      </p:sp>
      <p:sp>
        <p:nvSpPr>
          <p:cNvPr id="215" name="Google Shape;215;g3cef9acae2e_2_15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ef9acae2e_2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cef9acae2e_2_21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Two tools, and the design principle behind both is the same — only use the big model where you actually need it.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RAGRetrieverTool goes first on any factual question: embed the query, hit Pinecone top-5, gate on 0.28, send chunks to Llama 70B for synthesis. The small 8B model runs earlier to resolve pronouns in multi-turn queries before retrieval — a cheap, deterministic step — exactly the kind of task it’s suited for, while keeping the daily token limits separate.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VideoMetadataTool is the more interesting one. No vector search — pure JSON lookup. The 8B model still runs on the input side to extract a clean search keyword from natural language. But for the output, the 70B model is bypassed entirely — the tool returns a METADATA_LIST signal straight to Streamlit, which renders the list directly. The LLM was reformatting it inconsistently every call. Bypassing it fixed that permanently.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—-</a:t>
            </a:r>
            <a:endParaRPr/>
          </a:p>
        </p:txBody>
      </p:sp>
      <p:sp>
        <p:nvSpPr>
          <p:cNvPr id="270" name="Google Shape;270;g3cef9acae2e_2_21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ef9acae2e_2_2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cef9acae2e_2_26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evaluation I ran a 30-case eval set: 20 factual questions from the corpus, 5 multi-turn, and 5 adversarial. GPT-4.1 acts as judge, scoring each response on 4 dimensions on a scale of 1 to 5. Prompt v2 wins overall at 4.39 mean — main gains in conciseness and grounding.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Tone was already high in </a:t>
            </a:r>
            <a:r>
              <a:rPr lang="en" sz="1200">
                <a:solidFill>
                  <a:schemeClr val="dk1"/>
                </a:solidFill>
              </a:rPr>
              <a:t>first version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lang="en" sz="1200">
                <a:solidFill>
                  <a:schemeClr val="dk1"/>
                </a:solidFill>
              </a:rPr>
              <a:t>second version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added explicit instructions against backticks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verbosity and tightened the grounding constraint.</a:t>
            </a:r>
            <a:endParaRPr/>
          </a:p>
        </p:txBody>
      </p:sp>
      <p:sp>
        <p:nvSpPr>
          <p:cNvPr id="320" name="Google Shape;320;g3cef9acae2e_2_26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ef9acae2e_2_3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cef9acae2e_2_32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100">
                <a:solidFill>
                  <a:schemeClr val="dk1"/>
                </a:solidFill>
              </a:rPr>
              <a:t>For challenges: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Symmetric embedding model, asymmetric task: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MiniLM wasn't built for this — it compares identical-format pairs. I'm indexing enriched text, querying plain text. Cosine scores compress as a result.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Score threshold tuning: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0.28 value is empirical — I ran queries through the retriever, read the scores, and found where on-topic and off-topic naturally separated. It holds, but it's a calibrated guess, not a guarantee.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LLM metadata reformatting: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The catalog tool was returning free-form text. The LLM kept reformatting it differently every call. Bypassed it entirely — return a signal, render in Streamlit directly.</a:t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For next steps: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Swap to asymmetric embedder: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One model swap removes the threshold problem completely.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Reranker layer: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Right now top-k is purely vector similarity. A cross-encoder after retrieval would rerank on actual relevance.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Whisper ingestion + Multilingual: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Caption dependency gone, non-English channels become possible. Same pipeline, broader reach.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7" name="Google Shape;367;g3cef9acae2e_2_32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ef9acae2e_2_3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3cef9acae2e_2_35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plan — four questions, each exercises a different path.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 Speed of light — classic RAG, shows citation pills with YouTube deep links.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2: Follow-up on the channel — exercises conversation memory without a new retrieval.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3: Catalog query — metadata tool, bypasses LLM reformatting, renders a clean list.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 Great Filter — cosmology, good cross-video answer. If time allows: paste a live YouTube URL and ask about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URL: https://www.youtube.com/watch?v=fCn8zs912OE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Q: What is Zipf's Law and why does it appear everywhere?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cef9acae2e_2_35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ef9acae2e_2_3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cef9acae2e_2_38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That's ScienceQ. A RAG chatbot for science YouTube — fully deployed, evaluated, and ready to demo. Happy to take questions. The app is live at scienceq.streamlit.app — feel free to try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&amp; Answers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did you choose to do chunking in ~60s windows instead of other methods?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60 seconds gives enough context for a complete thought from a science explainer, and closing at segment boundaries means we never truncate mid-sentence. No overlap keeps the chunks clean — duplicating content would inflate the index without improving retrieval.</a:t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did you avoid using LLM as a router in the LangGraph architecture?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Two reasons — cost and reliability. Every routing call costs tokens and adds latency. More importantly, LLM routers can misclassify at demo time, and I didn't want a live failure on something that's just pattern matching. Keywords don't hallucinate. I only use the LLM where the LLM is the right tool. Routing here is a classification problem with three classes and obvious features — that's not an LLM problem.</a:t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not use a classifier model for this task since you needed classification?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have three classes and the features are deterministic — a URL is a URL, 'what videos' is a literal string. Training or loading a classifier for that is engineering overhead with no accuracy benefit. If I had ten intents with fuzzy boundaries between them, a classifier becomes the right call. At three intents with deterministic signals, it's a solution looking for a problem.</a:t>
            </a:r>
            <a:endParaRPr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does the Agent Memory live?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In-process — it's a Python list inside the session. No database, no persistence. It holds the last 5 turns as HumanMessage/AI Message pairs and gets injected into the prompt on every call. It resets when the session clears. Simple by design — the scope of the project didn't need cross-session memory.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You mentioned the 8B model runs on the input side for VideoMetadataTool — but if you're just doing a JSON lookup, why do you need a model at all?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Because users ask in natural language — 'do you have anything on how the brain works?' isn't a clean keyword. The 8B extracts 'neuroscience' from that before the JSON lookup runs. Without it, the substring match fails on anything phrased conversationally. It's a cheap call on the small model, not the 70B.</a:t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If the METADATA_LIST signal bypasses the 70B entirely for output, how does the agent know to return it as structured data rather than just answering the question normally?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The tool itself returns the signal — the agent never makes that decision. VideoMetadataTool always returns </a:t>
            </a:r>
            <a:r>
              <a:rPr i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METADATA_LIST:&lt;json&gt;</a:t>
            </a:r>
            <a:r>
              <a:rPr i="1" lang="en" sz="1200">
                <a:solidFill>
                  <a:schemeClr val="dk1"/>
                </a:solidFill>
              </a:rPr>
              <a:t> for any match. Streamlit detects the prefix and routes it to the list renderer. The 70B sees the tool output but it's already a signal string, not free text — there's nothing to reformat. The bypass is baked into the tool contract, not the agent logic.</a:t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You mention two-pass matching for the metadata tool — what does that actually mean and why not just do one pass?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First pass is exact substring match against title, channel, and topic fields — if you ask for 'Veritasium' it finds it immediately. Second pass is a loose fallback that matches any word over three characters against the topic field only. That kicks in when the query is phrased conversationally — 'something about how we think' would miss on exact match but 'think' would loosely match 'cognitive science' on the second pass. The reason I restricted the fallback to topic only is to avoid cross-contamination — matching loose keywords against titles would return false positives where a word appears in a title but has nothing to do with what the user was asking about.</a:t>
            </a:r>
            <a:endParaRPr i="1"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examples of a query that would target the query rewriter?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follow-up that uses a pronoun or implicit reference. "What did he say about that?" — the rewriter resolves "he" and "that" from the previous turn before hitting Pinecone. Without it, the retriever would embed the pronoun literally and return garbage. It only fires on turn 2 onwards — skipped on the first message.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temperatures were used for the two models and why?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I'd have to double-check the exact values in the code, but the principle is: near-zero for the query rewriter — it's a deterministic task, you want the same rewrite every time. Slightly higher for the answer model — enough to avoid robotic phrasing without hallucinating. I can pull the exact values if needed.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did the eval set contain only 30 cases over 20 videos?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It's a representative sample, not exhaustive coverage. 30 cases is enough statistical signal to compare prompt versions meaningfully — going to 42 videos would have inflated Groq token costs and eval runtime without changing the conclusion. The 5 adversarial cases also don't map to specific videos, so full coverage wasn't the goal. The goal was: does prompt v2 outperform v1 across question types? 30 cases answers that.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not use a bigger model like GPT-4o instead of Groq?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reasons: speed and cost. Groq runs on custom inference hardware — LPUs — so the 70B model responds in under a second. GPT-4o at that context size would be noticeably slower, which matters a lot in a live demo. On cost, Groq's free tier was sufficient for the entire project including eval runs. GPT-4o would have added real API cost for something that's a bootcamp project. The quality tradeoff is minimal for this use case — the answers are grounded in retrieved chunks, so the LLM's job is synthesis and tone, not world knowledge. A well-prompted 70B model handles that fine.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cef9acae2e_2_38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f5f4d7fdc_1_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g3cf5f4d7fdc_1_6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That's ScienceQ. A RAG chatbot for science YouTube — fully deployed, evaluated, and ready to demo. Happy to take questions. The app is live at scienceq.streamlit.app — feel free to try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&amp; Answers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does the Agent Memory live?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In-process — it's a Python list inside the session. No database, no persistence. It holds the last 5 turns as HumanMessage/AI Message pairs and gets injected into the prompt on every call. It resets when the session clears. Simple by design — the scope of the project didn't need cross-session memory.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examples of a query that would target the query rewriter?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follow-up that uses a pronoun or implicit reference. "What did he say about that?" — the rewriter resolves "he" and "that" from the previous turn before hitting Pinecone. Without it, the retriever would embed the pronoun literally and return garbage. It only fires on turn 2 onwards — skipped on the first message.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temperatures were used for the two models and why?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I'd have to double-check the exact values in the code, but the principle is: near-zero for the query rewriter — it's a deterministic task, you want the same rewrite every time. Slightly higher for the answer model — enough to avoid robotic phrasing without hallucinating. I can pull the exact values if needed.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did the eval set contain only 30 cases over 20 videos?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It's a representative sample, not exhaustive coverage. 30 cases is enough statistical signal to compare prompt versions meaningfully — going to 42 videos would have inflated Groq token costs and eval runtime without changing the conclusion. The 5 adversarial cases also don't map to specific videos, so full coverage wasn't the goal. The goal was: does prompt v2 outperform v1 across question types? 30 cases answers that.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not use a bigger model like GPT-4o instead of Groq?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reasons: speed and cost. Groq runs on custom inference hardware — LPUs — so the 70B model responds in under a second. GPT-4o at that context size would be noticeably slower, which matters a lot in a live demo. On cost, Groq's free tier was sufficient for the entire project including eval runs. GPT-4o would have added real API cost for something that's a bootcamp project. The quality tradeoff is minimal for this use case — the answers are grounded in retrieved chunks, so the LLM's job is synthesis and tone, not world knowledge. A well-prompted 70B model handles that fine.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cf5f4d7fdc_1_6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f5f4d7fdc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cf5f4d7fdc_1_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Groq gives sub-second LLM inference —</a:t>
            </a:r>
            <a:r>
              <a:rPr lang="en" sz="1200">
                <a:solidFill>
                  <a:schemeClr val="dk1"/>
                </a:solidFill>
              </a:rPr>
              <a:t> and the daily free token limit (100k) is well within the use case for this demo.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use two models: the big one for RAG answers, the smaller 8b model for query rewriting — they hit separate rate limit buckets.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 LCEL for chain composition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LangGraph for the agent state machine.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LangSmith traces every interaction.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Deployed on Streamlit Community Cloud.</a:t>
            </a:r>
            <a:endParaRPr/>
          </a:p>
        </p:txBody>
      </p:sp>
      <p:sp>
        <p:nvSpPr>
          <p:cNvPr id="470" name="Google Shape;470;g3cf5f4d7fdc_1_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ef9acae2e_2_3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g3cef9acae2e_2_30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trace is the clearest example. Same question, same retrieved chunks — different prompts. v1 drifts into an AI/LLM tangent that doesn't exist in the video: grounding 0.40.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 stays strictly in the transcript, cites the timestamp, and stops when the answer is done: grounding 1.00, conciseness 1.00. The d</a:t>
            </a:r>
            <a:r>
              <a:rPr lang="en" sz="1200">
                <a:solidFill>
                  <a:schemeClr val="dk1"/>
                </a:solidFill>
              </a:rPr>
              <a:t>ifference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here isn't retrieval — it's the prompt boundary holding.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cef9acae2e_2_30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f5f4d7fd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cf5f4d7fdc_2_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cienceq.streamlit.app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scienceq.streamlit.app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6341" y="1365029"/>
            <a:ext cx="224589" cy="21350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2015297" y="1212776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ScienceQ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040965" y="2101925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2000"/>
              <a:buFont typeface="Calibri"/>
              <a:buNone/>
            </a:pPr>
            <a:r>
              <a:rPr b="0" i="1" lang="en" sz="2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 RAG-powered chatbot for YouTube science videos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040964" y="2833444"/>
            <a:ext cx="5653741" cy="45719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2334946" y="302238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Marcos Sousa  ·  Ironhack AI Engineering Bootcamp  ·  March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914322" y="3700540"/>
            <a:ext cx="1078992" cy="347472"/>
          </a:xfrm>
          <a:prstGeom prst="roundRect">
            <a:avLst>
              <a:gd fmla="val 13158" name="adj"/>
            </a:avLst>
          </a:prstGeom>
          <a:solidFill>
            <a:srgbClr val="1A3A5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1914322" y="370054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121330" y="3700540"/>
            <a:ext cx="1078992" cy="347472"/>
          </a:xfrm>
          <a:prstGeom prst="roundRect">
            <a:avLst>
              <a:gd fmla="val 13158" name="adj"/>
            </a:avLst>
          </a:prstGeom>
          <a:solidFill>
            <a:srgbClr val="1A3A5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3121330" y="370054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328338" y="3700540"/>
            <a:ext cx="1078992" cy="347472"/>
          </a:xfrm>
          <a:prstGeom prst="roundRect">
            <a:avLst>
              <a:gd fmla="val 13158" name="adj"/>
            </a:avLst>
          </a:prstGeom>
          <a:solidFill>
            <a:srgbClr val="1A3A5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328338" y="370054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Pinecone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535346" y="3700540"/>
            <a:ext cx="1078992" cy="347472"/>
          </a:xfrm>
          <a:prstGeom prst="roundRect">
            <a:avLst>
              <a:gd fmla="val 13158" name="adj"/>
            </a:avLst>
          </a:prstGeom>
          <a:solidFill>
            <a:srgbClr val="1A3A5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535346" y="370054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742354" y="3700540"/>
            <a:ext cx="1078992" cy="347472"/>
          </a:xfrm>
          <a:prstGeom prst="roundRect">
            <a:avLst>
              <a:gd fmla="val 13158" name="adj"/>
            </a:avLst>
          </a:prstGeom>
          <a:solidFill>
            <a:srgbClr val="1A3A5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742354" y="3700540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31501" y="1234440"/>
            <a:ext cx="5029200" cy="10058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81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1208741" y="128016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Hours of science content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208741" y="1673352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YouTube has thousands of great explainer videos — no way to search inside them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31501" y="2441448"/>
            <a:ext cx="5029200" cy="10058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81" y="26700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208741" y="248716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semantic search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208741" y="28803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Can't ask 'what did Veritasium say about CRISPR?' without watching the whole 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31501" y="3648456"/>
            <a:ext cx="5029200" cy="10058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81" y="38770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208741" y="369417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memory across videos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208741" y="40873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Cross-video follow-up questions aren't possible — context dies with each watch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669280" y="1051560"/>
            <a:ext cx="3108960" cy="374904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852160" y="1188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852160" y="173736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any question.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Get answers grounded in what the video actually said.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With sources. With memory. In seconds.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Corpus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CORPUS OVERVIEW</a:t>
            </a:r>
            <a:endParaRPr b="0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7200" y="1325880"/>
            <a:ext cx="2606040" cy="960120"/>
          </a:xfrm>
          <a:prstGeom prst="rect">
            <a:avLst/>
          </a:prstGeom>
          <a:solidFill>
            <a:srgbClr val="1526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457200" y="1325880"/>
            <a:ext cx="2606040" cy="502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57200" y="1389888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192024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Curated Videos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246125" y="1325875"/>
            <a:ext cx="2514600" cy="960000"/>
          </a:xfrm>
          <a:prstGeom prst="rect">
            <a:avLst/>
          </a:prstGeom>
          <a:solidFill>
            <a:srgbClr val="1526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246125" y="1325875"/>
            <a:ext cx="2514600" cy="50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246125" y="1389883"/>
            <a:ext cx="2514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674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246125" y="1920238"/>
            <a:ext cx="251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Chunk v</a:t>
            </a:r>
            <a:r>
              <a:rPr b="0" i="0" lang="en" sz="12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ectors in Pinecone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035103" y="1325875"/>
            <a:ext cx="2834700" cy="960000"/>
          </a:xfrm>
          <a:prstGeom prst="rect">
            <a:avLst/>
          </a:prstGeom>
          <a:solidFill>
            <a:srgbClr val="1526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6035103" y="1325875"/>
            <a:ext cx="2834700" cy="50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035076" y="1383021"/>
            <a:ext cx="2834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035103" y="1920235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Topic Categories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7200" y="24871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CURATION CRITERIA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57200" y="2788920"/>
            <a:ext cx="5303520" cy="2029968"/>
          </a:xfrm>
          <a:prstGeom prst="rect">
            <a:avLst/>
          </a:prstGeom>
          <a:solidFill>
            <a:srgbClr val="1526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94360" y="2852928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868680" y="285292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main concept per video — avoids retrieval ambiguity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94360" y="322783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868680" y="322783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Scripted or semi-scripted delivery — higher transcript quality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94360" y="3602736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68680" y="3602736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Human-generated captions preferred over auto-generated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94360" y="3977640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68680" y="39776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 verbal explanation — no visuals-only content excluded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94360" y="4352544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68680" y="435254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opinion pieces or list-style ("Top 10...") videos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035040" y="24871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C9B1"/>
                </a:solidFill>
                <a:latin typeface="Calibri"/>
                <a:ea typeface="Calibri"/>
                <a:cs typeface="Calibri"/>
                <a:sym typeface="Calibri"/>
              </a:rPr>
              <a:t>TOPIC DISTRIBUTION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035040" y="2788920"/>
            <a:ext cx="2834640" cy="2029968"/>
          </a:xfrm>
          <a:prstGeom prst="rect">
            <a:avLst/>
          </a:prstGeom>
          <a:solidFill>
            <a:srgbClr val="152642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144768" y="2834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Cosmology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144768" y="305409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144768" y="3054096"/>
            <a:ext cx="100584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7196328" y="301752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144768" y="3200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144768" y="341985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144768" y="3419856"/>
            <a:ext cx="83820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7196328" y="338328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144768" y="35661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144768" y="378561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144768" y="3785616"/>
            <a:ext cx="83820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7196328" y="374904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144768" y="3931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Psychology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144768" y="415137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144768" y="4151376"/>
            <a:ext cx="83820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196328" y="411480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144768" y="4297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Philosophy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144768" y="451713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144768" y="4517136"/>
            <a:ext cx="67056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196328" y="44805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452360" y="2834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452360" y="305409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452360" y="3054096"/>
            <a:ext cx="67056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8503920" y="301752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452360" y="32004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Mathematics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452360" y="341985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452360" y="3419856"/>
            <a:ext cx="67056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8503920" y="338328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452360" y="35661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452360" y="378561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452360" y="3785616"/>
            <a:ext cx="50292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8503920" y="374904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452360" y="3931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Neuroscience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452360" y="415137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452360" y="4151376"/>
            <a:ext cx="50292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8503920" y="411480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452360" y="4297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Sci.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452360" y="4517136"/>
            <a:ext cx="1005840" cy="91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452360" y="4517136"/>
            <a:ext cx="502920" cy="91440"/>
          </a:xfrm>
          <a:prstGeom prst="rect">
            <a:avLst/>
          </a:prstGeom>
          <a:solidFill>
            <a:srgbClr val="00C9B1">
              <a:alpha val="80000"/>
            </a:srgbClr>
          </a:solidFill>
          <a:ln cap="flat" cmpd="sng" w="12700">
            <a:solidFill>
              <a:srgbClr val="00C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8503920" y="4480560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9BB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B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6576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INGESTION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65760" y="1325880"/>
            <a:ext cx="187452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65760" y="13258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Transcript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240280" y="1627632"/>
            <a:ext cx="27432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514600" y="1325880"/>
            <a:ext cx="187452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2514600" y="13258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Cleaner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4389120" y="1627632"/>
            <a:ext cx="27432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4663440" y="1325880"/>
            <a:ext cx="187452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663440" y="13258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(MiniLM)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537960" y="1627632"/>
            <a:ext cx="27432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812280" y="1325880"/>
            <a:ext cx="1874520" cy="6858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6812280" y="1325880"/>
            <a:ext cx="1874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Pinecone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65760" y="208483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42 videos  ·  674 vectors  ·  10 topics  ·  384-dim cosine similarity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65760" y="2487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QUERY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65760" y="2788920"/>
            <a:ext cx="1463040" cy="6858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65760" y="27889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1828800" y="3090672"/>
            <a:ext cx="2286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2057400" y="2788920"/>
            <a:ext cx="146304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2057400" y="27889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520440" y="3090672"/>
            <a:ext cx="2286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3749040" y="2788920"/>
            <a:ext cx="146304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3749040" y="27889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(Pinecone)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212080" y="3090672"/>
            <a:ext cx="2286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5440680" y="2788920"/>
            <a:ext cx="146304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5440680" y="27889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(70B)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903720" y="3090672"/>
            <a:ext cx="22860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7132320" y="2788920"/>
            <a:ext cx="1463040" cy="6858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7132320" y="27889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Answer +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65760" y="36576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65760" y="39776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▸  Hardcoded RAG-first routing — no LLM routing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937760" y="397764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▸  Title-prepended embeddings — bakes topic into vectors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365760" y="436168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gate 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0.28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— blocks off-topic hallucinations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937760" y="436168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▸  Two Groq models used - OpenAI for evaluation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 Agent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20040" y="960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LANGGRAPH ARCHITECTURE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777240" y="1298448"/>
            <a:ext cx="2560320" cy="438912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777240" y="1298448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020824" y="1746183"/>
            <a:ext cx="73151" cy="201168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777240" y="1947351"/>
            <a:ext cx="2560320" cy="438912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777240" y="193788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classify_intent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2020502" y="2404551"/>
            <a:ext cx="73152" cy="201168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777375" y="2615175"/>
            <a:ext cx="2560200" cy="4389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777375" y="2615175"/>
            <a:ext cx="2560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rag  |  metadata  |  ingest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2020824" y="3053454"/>
            <a:ext cx="73152" cy="201168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777240" y="3273552"/>
            <a:ext cx="2560320" cy="438912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777240" y="3273552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</a:t>
            </a: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2020824" y="3727704"/>
            <a:ext cx="73152" cy="201168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777240" y="3931920"/>
            <a:ext cx="2560320" cy="438912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777240" y="393192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Answer + Sources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20040" y="464515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Zero-cost keyword routing — no LLM call for intent classification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160520" y="9601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CONVERSATION MEMORY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160520" y="1298448"/>
            <a:ext cx="2194560" cy="301752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4315968" y="144475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315968" y="170078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ConversationMemory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315968" y="20116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315968" y="22677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turns (sliding)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4315968" y="25786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315968" y="28346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In-process list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315968" y="314553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315968" y="3401568"/>
            <a:ext cx="1895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Message 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Message pairs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4315968" y="3712464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4315968" y="396849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session clear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160520" y="44348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Custom class — avoids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langchain-community dep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903720" y="960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PROMPT TEMPLATE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6825996" y="1298448"/>
            <a:ext cx="2183250" cy="14630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6771132" y="1298448"/>
            <a:ext cx="54864" cy="14630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930189" y="134128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[ system ]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930189" y="1572768"/>
            <a:ext cx="19603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Answer directly, no hedging openers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930189" y="18653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Grounded strictly in retrieved context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930189" y="2148519"/>
            <a:ext cx="18663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Max 4 paragraphs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930189" y="2404551"/>
            <a:ext cx="18663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Confidentiality guard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771132" y="2889504"/>
            <a:ext cx="2238114" cy="1170432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6771131" y="2889504"/>
            <a:ext cx="61039" cy="117043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6930189" y="293522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[ history ]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930189" y="3169519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MessagesPlaceholder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930189" y="3425551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Injects memory turns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6930189" y="3681583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Optional — skipped on turn 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764795" y="4197176"/>
            <a:ext cx="2238114" cy="585216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764795" y="4197176"/>
            <a:ext cx="54864" cy="58521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6930189" y="422452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[ human ]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6930189" y="44622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· {question}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Tools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11480" y="105156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RAGRetrieverTool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411480" y="142646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Answers factual questions · Always tried first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11480" y="1828800"/>
            <a:ext cx="54864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66928" y="18379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66928" y="202996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question (full sentence)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411480" y="2395728"/>
            <a:ext cx="54864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566928" y="24048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566928" y="259689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Pinecone top-5 · score gate 0.28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corpus + live namespaces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11480" y="2962656"/>
            <a:ext cx="54864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566928" y="29718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66928" y="316382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 llama-3.3-70b-versatile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+ context chunks + history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11480" y="3529584"/>
            <a:ext cx="54864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566928" y="35387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566928" y="373075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text + source chunks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(title, timestamp, score, URL)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11480" y="4096512"/>
            <a:ext cx="54864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566928" y="41056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Fallback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66928" y="429768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No-context response if all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scores fall below threshold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11480" y="4645152"/>
            <a:ext cx="3886200" cy="219456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411480" y="464515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Query rewrite via llama-3.1-8b-instant resolves pronouns before retrieval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4709160" y="960120"/>
            <a:ext cx="416052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846320" y="1051560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VideoMetadataTool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4846320" y="142646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Answers catalog queries · Bypasses RAG entirely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4846320" y="1828800"/>
            <a:ext cx="54864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5001768" y="18379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5001768" y="20299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 / channel / keyword / 'all'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(resolved from natural language by 8b model)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846320" y="2395728"/>
            <a:ext cx="54864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5001768" y="24048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5001768" y="25968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metadata.json — 42 videos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title, channel, topic, duration, video_id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4846320" y="2962656"/>
            <a:ext cx="54864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5001768" y="29718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Matching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001768" y="316382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1: exact substring on title/topic/channel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2: word match on topic field only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846320" y="3529584"/>
            <a:ext cx="54864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5001768" y="35387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5001768" y="37307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METADATA_LIST:&lt;json&gt; signal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renders directly — no LLM reformatting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846320" y="4096512"/>
            <a:ext cx="54864" cy="43891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5001768" y="41056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5001768" y="42976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videos", "show me biology",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do you have on…" — keyword matched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846320" y="4645152"/>
            <a:ext cx="3886200" cy="219456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4846320" y="464515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METADATA_LIST signal bypasses LLM — avoids inconsistent reformatting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i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30-case eval set  ·  20 factual + 5 multi-turn + 5 adversarial  ·  GPT-4.1 as judge  ·  tracked in LangSmith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443780" y="137159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prompt-v1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1443780" y="1618483"/>
            <a:ext cx="201300" cy="201300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3364020" y="137159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prompt-v2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3364020" y="1618483"/>
            <a:ext cx="201300" cy="201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365753" y="1965950"/>
            <a:ext cx="103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Correctness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1398060" y="1975099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1398060" y="1975099"/>
            <a:ext cx="4586700" cy="201300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6611838" y="1965950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4.56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1398060" y="2221987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1398060" y="2221987"/>
            <a:ext cx="4305000" cy="201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611838" y="2212839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365753" y="2624320"/>
            <a:ext cx="103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1398060" y="2633467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1398060" y="2633467"/>
            <a:ext cx="4787700" cy="201300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6611838" y="2624320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4.76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1398060" y="2880355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1398060" y="2880355"/>
            <a:ext cx="4908600" cy="201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6611838" y="2871209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4.88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365753" y="3282689"/>
            <a:ext cx="103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1398060" y="3291835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1398060" y="3291835"/>
            <a:ext cx="3942900" cy="201300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6611838" y="3282690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3.92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1398060" y="3538723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1398060" y="3538723"/>
            <a:ext cx="4063500" cy="201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611838" y="3529579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365753" y="3941059"/>
            <a:ext cx="103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Conciseness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1398060" y="3950203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1398060" y="3950203"/>
            <a:ext cx="3741600" cy="201300"/>
          </a:xfrm>
          <a:prstGeom prst="rect">
            <a:avLst/>
          </a:prstGeom>
          <a:solidFill>
            <a:srgbClr val="8CA0B3"/>
          </a:solidFill>
          <a:ln cap="flat" cmpd="sng" w="12700">
            <a:solidFill>
              <a:srgbClr val="8CA0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6611838" y="3941060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3.72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1398060" y="4197091"/>
            <a:ext cx="5029200" cy="201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1398060" y="4197091"/>
            <a:ext cx="4385400" cy="201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6611838" y="4187949"/>
            <a:ext cx="4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4.36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7564275" y="1819775"/>
            <a:ext cx="914400" cy="2624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7582578" y="1947653"/>
            <a:ext cx="87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7582578" y="2249405"/>
            <a:ext cx="87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4.24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7582578" y="2752325"/>
            <a:ext cx="87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v1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7582578" y="3255245"/>
            <a:ext cx="87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4.39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7582578" y="3776453"/>
            <a:ext cx="87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v2 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Next Steps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365760" y="100584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WHAT WAS HARD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365760" y="1366653"/>
            <a:ext cx="54900" cy="6585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566928" y="1394085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Symmetric embedding model, asymmetric task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566928" y="1686693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Title-prepended index chunks vs plain query text depresses cosine scores — required lowering threshold to 0.28.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365760" y="2235333"/>
            <a:ext cx="54900" cy="6585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566928" y="2262765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threshold tuning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566928" y="2555373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Empirical calibration: on-topic queries clear 0.28 reliably, off-topic fall below it — but the margin is thin.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365760" y="3104013"/>
            <a:ext cx="54900" cy="6585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566928" y="3131445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metadata reformatting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566928" y="3424053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LLM reformatted catalog results inconsistently — fixed by returning METADATA_LIST signal and rendering in Streamlit.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846320" y="1371600"/>
            <a:ext cx="54864" cy="65836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5047488" y="13990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Swap to asymmetric embedder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047488" y="16916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Swap MiniLM for msmarco-distilbert or Cohere embed-v3 — native query/doc split, better scores.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4846320" y="2240280"/>
            <a:ext cx="54864" cy="65836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5047488" y="22677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Reranker layer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5047488" y="25603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Add cross-encoder reranking after retrieval to improve top-k precision before the LLM.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846320" y="3108960"/>
            <a:ext cx="54864" cy="65836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5047488" y="31363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Whisper ingestion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5047488" y="3429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Replace youtube-transcript-api with Whisper for videos without auto-captions + proxy layer for Cloud.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4846320" y="3977640"/>
            <a:ext cx="54864" cy="65836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5047488" y="40050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Multilingual corpus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5047488" y="42976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Cohere multilingual embeddings + non-English science channels to broaden reach.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365760" y="960120"/>
            <a:ext cx="8412480" cy="53035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365760" y="96012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🌐  </a:t>
            </a:r>
            <a:r>
              <a:rPr b="1" lang="e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scienceq.streamlit.app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365760" y="1645920"/>
            <a:ext cx="475488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365760" y="1645920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960120" y="1645920"/>
            <a:ext cx="7818120" cy="566928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1078992" y="167335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has no one measured the speed of light one-way?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078992" y="195681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Shows source pill + YouTube timestamp link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7680960" y="1755648"/>
            <a:ext cx="960120" cy="320040"/>
          </a:xfrm>
          <a:prstGeom prst="roundRect">
            <a:avLst>
              <a:gd fmla="val 14286" name="adj"/>
            </a:avLst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7680960" y="175564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365760" y="2441448"/>
            <a:ext cx="475488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365760" y="2441448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960120" y="2441448"/>
            <a:ext cx="7818120" cy="566928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1078992" y="2468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channel was that from?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1078992" y="2752344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Multi-turn follow-up — memory across turns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7680960" y="2551176"/>
            <a:ext cx="960120" cy="320040"/>
          </a:xfrm>
          <a:prstGeom prst="roundRect">
            <a:avLst>
              <a:gd fmla="val 14286" name="adj"/>
            </a:avLst>
          </a:prstGeom>
          <a:solidFill>
            <a:srgbClr val="0A254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7680960" y="2551176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365760" y="3236976"/>
            <a:ext cx="475488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365760" y="3236976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960120" y="3236976"/>
            <a:ext cx="7818120" cy="566928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1078992" y="32644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videos do you have on mathematics?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1078992" y="3547872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Catalog query — bypasses RAG entirely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7680960" y="3346704"/>
            <a:ext cx="960120" cy="320040"/>
          </a:xfrm>
          <a:prstGeom prst="roundRect">
            <a:avLst>
              <a:gd fmla="val 14286" name="adj"/>
            </a:avLst>
          </a:prstGeom>
          <a:solidFill>
            <a:srgbClr val="0A2540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7680960" y="334670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365760" y="4032504"/>
            <a:ext cx="475488" cy="5669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365760" y="4032504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960120" y="4032504"/>
            <a:ext cx="7818120" cy="566928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1078992" y="405993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Great Filter?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1078992" y="434340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Cosmology topic — Fermi paradox / existential risk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7680960" y="4142232"/>
            <a:ext cx="960120" cy="320040"/>
          </a:xfrm>
          <a:prstGeom prst="roundRect">
            <a:avLst>
              <a:gd fmla="val 14286" name="adj"/>
            </a:avLst>
          </a:prstGeom>
          <a:solidFill>
            <a:srgbClr val="0A254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7680960" y="414223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4"/>
          <p:cNvSpPr/>
          <p:nvPr/>
        </p:nvSpPr>
        <p:spPr>
          <a:xfrm>
            <a:off x="6861748" y="0"/>
            <a:ext cx="2282252" cy="51435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6788219" y="0"/>
            <a:ext cx="54864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457200" y="731520"/>
            <a:ext cx="5212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457200" y="1874520"/>
            <a:ext cx="50292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457200" y="202996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Try it live: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457200" y="2395728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en" sz="2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scienceq.streamlit.app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Code: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457200" y="333756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lang="en" sz="1500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github.com/marcosfsousa/project-ironhack-scienceq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971100" y="548640"/>
            <a:ext cx="1990019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6971101" y="1005840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7135318" y="1005840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LangChain + LangGraph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6971101" y="1627632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7135318" y="1627632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 LLaMA 70B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6971101" y="2249424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7135318" y="2249424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Pinecone Serverless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6971101" y="2871216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7135318" y="2871216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 Transformers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6971101" y="3493008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7135318" y="3493008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LangSmith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971101" y="4114800"/>
            <a:ext cx="54864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7135318" y="4114800"/>
            <a:ext cx="173436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594400" y="4189850"/>
            <a:ext cx="493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Do you have any questions?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2A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"/>
          <p:cNvSpPr/>
          <p:nvPr/>
        </p:nvSpPr>
        <p:spPr>
          <a:xfrm>
            <a:off x="2057400" y="1981950"/>
            <a:ext cx="5029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" sz="4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 Section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2057400" y="3124945"/>
            <a:ext cx="5029200" cy="366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2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6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0" y="777240"/>
            <a:ext cx="9144000" cy="456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 </a:t>
            </a:r>
            <a:r>
              <a:rPr b="1" lang="e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365760" y="1005840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365760" y="1005840"/>
            <a:ext cx="63900" cy="1097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530352" y="107899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530352" y="13258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530352" y="1645920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llama-3.3-70b-versatile (answers)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llama-3.1-8b-instant (rewrites)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4754880" y="1005840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4754880" y="1005840"/>
            <a:ext cx="63900" cy="10974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4919472" y="107899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4919472" y="13258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 Transformers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4919472" y="1645920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all-MiniLM-L6-v2 · 384 dims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365760" y="2304288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6"/>
          <p:cNvSpPr/>
          <p:nvPr/>
        </p:nvSpPr>
        <p:spPr>
          <a:xfrm>
            <a:off x="365760" y="2304288"/>
            <a:ext cx="63900" cy="10974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"/>
          <p:cNvSpPr/>
          <p:nvPr/>
        </p:nvSpPr>
        <p:spPr>
          <a:xfrm>
            <a:off x="530352" y="237744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30352" y="262432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Pinecone Serverless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30352" y="294436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AWS us-east-1 · 674 vectors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corpus + live namespaces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4754880" y="2304288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4754880" y="2304288"/>
            <a:ext cx="63900" cy="1097400"/>
          </a:xfrm>
          <a:prstGeom prst="rect">
            <a:avLst/>
          </a:prstGeom>
          <a:solidFill>
            <a:srgbClr val="E879F9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4919472" y="237744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F9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4919472" y="262432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LangChain + LangGraph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4919472" y="294436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LCEL chains · State machine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5-turn sliding window memory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365760" y="3602736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365760" y="3602736"/>
            <a:ext cx="63900" cy="1097400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530352" y="367588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Tracing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530352" y="3922776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LangSmith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530352" y="4242816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Full trace logging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Eval runner integration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4754880" y="3602736"/>
            <a:ext cx="4023300" cy="10974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4754880" y="3602736"/>
            <a:ext cx="63900" cy="10974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4919472" y="367588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4B4B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4919472" y="3922776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4919472" y="4242816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Streaming tokens · Source pills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Streamlit Community Cloud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2A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 </a:t>
            </a:r>
            <a:r>
              <a:rPr b="1" lang="e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m texto, captura de ecrã, software&#10;&#10;Os conteúdos gerados por IA poderão estar incorretos." id="513" name="Google Shape;5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771048"/>
            <a:ext cx="8373947" cy="3073226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7"/>
          <p:cNvSpPr/>
          <p:nvPr/>
        </p:nvSpPr>
        <p:spPr>
          <a:xfrm>
            <a:off x="420302" y="982587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1200"/>
              <a:buFont typeface="Calibri"/>
              <a:buNone/>
            </a:pPr>
            <a:r>
              <a:rPr i="1" lang="en" sz="12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LangSmith Trace Run comparison</a:t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443299" y="2336800"/>
            <a:ext cx="3688080" cy="21336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4903539" y="2340187"/>
            <a:ext cx="3688080" cy="21336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1464379" y="1386311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prompt-v1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5924619" y="1386311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prompt-v2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2A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52840"/>
          </a:solidFill>
          <a:ln cap="flat" cmpd="sng" w="12700">
            <a:solidFill>
              <a:srgbClr val="15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8"/>
          <p:cNvSpPr/>
          <p:nvPr/>
        </p:nvSpPr>
        <p:spPr>
          <a:xfrm>
            <a:off x="0" y="777240"/>
            <a:ext cx="9144000" cy="456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8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 — Transcript API: Challenges &amp; Alternatives</a:t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365760" y="100584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BLOCKERS &amp; LEGAL CONCERNS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365760" y="1280160"/>
            <a:ext cx="3931800" cy="183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365760" y="1412253"/>
            <a:ext cx="54900" cy="5487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457200" y="1380960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Terms of Service grey area</a:t>
            </a:r>
            <a:endParaRPr/>
          </a:p>
        </p:txBody>
      </p:sp>
      <p:sp>
        <p:nvSpPr>
          <p:cNvPr id="530" name="Google Shape;530;p28"/>
          <p:cNvSpPr/>
          <p:nvPr/>
        </p:nvSpPr>
        <p:spPr>
          <a:xfrm>
            <a:off x="457200" y="1600416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Scrapes YouTube’s internal endpoint with no official API key. Widely used but technically violates YouTube ToS.</a:t>
            </a:r>
            <a:endParaRPr/>
          </a:p>
        </p:txBody>
      </p:sp>
      <p:sp>
        <p:nvSpPr>
          <p:cNvPr id="531" name="Google Shape;531;p28"/>
          <p:cNvSpPr/>
          <p:nvPr/>
        </p:nvSpPr>
        <p:spPr>
          <a:xfrm>
            <a:off x="365750" y="2147151"/>
            <a:ext cx="54900" cy="6099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457200" y="2080347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IP blocks on cloud deployment</a:t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457200" y="22998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YouTube blocks requests from AWS IP ranges. Solved with an IPRoyal residential proxy ($4.38/GB) — but adds a third-party dependency.</a:t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365760" y="2943252"/>
            <a:ext cx="54900" cy="457200"/>
          </a:xfrm>
          <a:prstGeom prst="rect">
            <a:avLst/>
          </a:prstGeom>
          <a:solidFill>
            <a:srgbClr val="EF476F"/>
          </a:solidFill>
          <a:ln cap="flat" cmpd="sng" w="1270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8"/>
          <p:cNvSpPr/>
          <p:nvPr/>
        </p:nvSpPr>
        <p:spPr>
          <a:xfrm>
            <a:off x="457075" y="2901359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Videos without available captions</a:t>
            </a:r>
            <a:endParaRPr/>
          </a:p>
        </p:txBody>
      </p:sp>
      <p:sp>
        <p:nvSpPr>
          <p:cNvPr id="536" name="Google Shape;536;p28"/>
          <p:cNvSpPr/>
          <p:nvPr/>
        </p:nvSpPr>
        <p:spPr>
          <a:xfrm>
            <a:off x="457075" y="312081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NoTranscriptFound / TranscriptsDisabled crash the pipeline if unhandled. Solved with try/except per video + Whisper as fallback.</a:t>
            </a:r>
            <a:endParaRPr/>
          </a:p>
        </p:txBody>
      </p:sp>
      <p:sp>
        <p:nvSpPr>
          <p:cNvPr id="537" name="Google Shape;537;p28"/>
          <p:cNvSpPr/>
          <p:nvPr/>
        </p:nvSpPr>
        <p:spPr>
          <a:xfrm>
            <a:off x="2432385" y="4251605"/>
            <a:ext cx="3931800" cy="457200"/>
          </a:xfrm>
          <a:prstGeom prst="rect">
            <a:avLst/>
          </a:prstGeom>
          <a:solidFill>
            <a:srgbClr val="152840"/>
          </a:solidFill>
          <a:ln cap="flat" cmpd="sng" w="190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2523825" y="4278605"/>
            <a:ext cx="3749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76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476F"/>
                </a:solidFill>
                <a:latin typeface="Calibri"/>
                <a:ea typeface="Calibri"/>
                <a:cs typeface="Calibri"/>
                <a:sym typeface="Calibri"/>
              </a:rPr>
              <a:t>RECOMMENDATION   </a:t>
            </a:r>
            <a:r>
              <a:rPr b="0" i="0" lang="en" sz="10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Keep YouTube as an option. Default future bootcamp projects to TED Talks or podcasts.</a:t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4389120" y="1005840"/>
            <a:ext cx="18300" cy="3200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8"/>
          <p:cNvSpPr/>
          <p:nvPr/>
        </p:nvSpPr>
        <p:spPr>
          <a:xfrm>
            <a:off x="4572000" y="100584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CLEANER ALTERNATIVES</a:t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4572000" y="1280160"/>
            <a:ext cx="4206300" cy="183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8"/>
          <p:cNvSpPr/>
          <p:nvPr/>
        </p:nvSpPr>
        <p:spPr>
          <a:xfrm>
            <a:off x="4572000" y="1366653"/>
            <a:ext cx="54900" cy="5487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8"/>
          <p:cNvSpPr/>
          <p:nvPr/>
        </p:nvSpPr>
        <p:spPr>
          <a:xfrm>
            <a:off x="4663440" y="1339648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TED Talks</a:t>
            </a:r>
            <a:r>
              <a:rPr b="0" i="0" lang="en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  — RECOMMENDED DEFAULT</a:t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4663440" y="1600416"/>
            <a:ext cx="411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Official transcript API, Creative Commons licensed, timestamps included. Closest drop-in replacement for YouTube.</a:t>
            </a:r>
            <a:endParaRPr/>
          </a:p>
        </p:txBody>
      </p:sp>
      <p:sp>
        <p:nvSpPr>
          <p:cNvPr id="545" name="Google Shape;545;p28"/>
          <p:cNvSpPr/>
          <p:nvPr/>
        </p:nvSpPr>
        <p:spPr>
          <a:xfrm>
            <a:off x="4572000" y="2066040"/>
            <a:ext cx="54900" cy="5487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8"/>
          <p:cNvSpPr/>
          <p:nvPr/>
        </p:nvSpPr>
        <p:spPr>
          <a:xfrm>
            <a:off x="4663440" y="2080347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Podcasts</a:t>
            </a:r>
            <a:endParaRPr/>
          </a:p>
        </p:txBody>
      </p:sp>
      <p:sp>
        <p:nvSpPr>
          <p:cNvPr id="547" name="Google Shape;547;p28"/>
          <p:cNvSpPr/>
          <p:nvPr/>
        </p:nvSpPr>
        <p:spPr>
          <a:xfrm>
            <a:off x="4663440" y="2299803"/>
            <a:ext cx="411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RSS feeds + Whisper transcription. No IP blocks, no ToS issues, works from any cloud host.</a:t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4571850" y="2885350"/>
            <a:ext cx="54900" cy="54000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8"/>
          <p:cNvSpPr/>
          <p:nvPr/>
        </p:nvSpPr>
        <p:spPr>
          <a:xfrm>
            <a:off x="4663290" y="2848884"/>
            <a:ext cx="411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AssemblyAI / Managed APIs</a:t>
            </a:r>
            <a:endParaRPr/>
          </a:p>
        </p:txBody>
      </p:sp>
      <p:sp>
        <p:nvSpPr>
          <p:cNvPr id="550" name="Google Shape;550;p28"/>
          <p:cNvSpPr/>
          <p:nvPr/>
        </p:nvSpPr>
        <p:spPr>
          <a:xfrm>
            <a:off x="4663640" y="315099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Handles IP blocks transparently. Best for production volume. Paid tier required.</a:t>
            </a: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4572000" y="4754160"/>
            <a:ext cx="429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5A73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5A73"/>
                </a:solidFill>
                <a:latin typeface="Calibri"/>
                <a:ea typeface="Calibri"/>
                <a:cs typeface="Calibri"/>
                <a:sym typeface="Calibri"/>
              </a:rPr>
              <a:t>ANNEX  —  ScienceQ  ·  Ironhack AI Engineering Bootcamp  ·  March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